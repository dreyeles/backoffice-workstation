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9260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PROYECTO DE INNOVACIÓN Y RPA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Automatización Inteligente de Flujo Word &amp; Correo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Optimización operativa mediante RPA: generación automática de documentos HITSS y despacho instantáneo por correo.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A5E9"/>
                </a:solidFill>
              </a:defRPr>
            </a:pPr>
            <a:r>
              <a:t>🎯 Objetivo Ejecutivo: </a:t>
            </a:r>
            <a:r>
              <a:rPr b="0">
                <a:solidFill>
                  <a:srgbClr val="F8FAFC"/>
                </a:solidFill>
              </a:rPr>
              <a:t>Eliminar el 100% de la carga manual en la edición de documentos y despacho de correos, reduciendo tiempos de 20 minutos a menos de 5 segundos con cero margen de error.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PROPUESTA DE AUTOMATIZACIÓN RPA • HITSS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Situación Actual vs. Retos Operativos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El proceso manual actual genera fricción operativa, consumo innecesario de horas-hombre y riesgo de errores.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3774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Llenado Manual de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El colaborador debe abrir la plantilla, buscar campos, transcribir información y ajustar tablas a mano.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394960"/>
            <a:ext cx="2834640" cy="5029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⚠️ 15 a 25 min por documento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3774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Riesgo de Errores Tipográficos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Copia manual de datos (nombres, importes, fechas) propenso a inconsistencias o errores de formato.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5394960"/>
            <a:ext cx="2834640" cy="5029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⚠️ Retrabajo y fallas de calidad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Despacho Manual de Correo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Redactar el correo individualmente, adjuntar el archivo correcto y verificar destinatarios uno a uno.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394960"/>
            <a:ext cx="2834640" cy="5029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⚠️ Demoras y falta de trazabilidad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PROPUESTA DE AUTOMATIZACIÓN RPA • HITSS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La Solución: Flujo de Automatización Extremo a Extremo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Un bot RPA que orquesta todo el proceso en 3 etapas automáticas, sin intervención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972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Entrada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Los datos se leen directamente desde un Excel, Formulario Web o Backoffice.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Validación automática de campos obligatorios.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Preparación de variables sin tecleo manual.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286000"/>
            <a:ext cx="10972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Generación del 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Uso de plantilla oficial .docx de HITSS.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Inyección dinámica de textos, tablas, fechas y montos.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Conserva formato, tipografías y logos exactos.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Guardado estructurado con nombre estándar.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286000"/>
            <a:ext cx="10972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Despacho por Correo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Integración con Outlook / Office 365.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Cuerpo y asunto del correo personalizados.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Adjunta el Word (o PDF) generado al instante.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Envío y registro de confirmación (Log).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PROPUESTA DE AUTOMATIZACIÓN RPA • HITSS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¿Cómo se Integra Técnicamente en HITSS?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🔧 Componentes de la Solución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✔ Motor RPA (Python)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Script ligero y modular que orquesta la lectura, procesamiento y despacho sin requerir licencias costosas.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✔ Librería de Plantillas (docxtpl / python-docx)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Mantiene intacto el diseño institucional de HITSS, reemplazando únicamente las etiquetas deseadas.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✔ Conector de Correo (Outlook / MAPI / SMTP)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Usa la cuenta institucional para despachar el correo de forma transparente y segura.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✔ Almacenamiento y Logs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Guarda copias organizadas por fecha/cliente y genera bitácora de auditoría.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⚡ Opciones de Despliegue para el Usuario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📌 Opción 1: 1-Clic desde el Backoffice / Web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 usuario llena o revisa datos en la web y presiona 'Generar y Enviar'. El RPA hace el resto al instante.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📌 Opción 2: Monitoreo Automático de Carpeta / Excel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 usuario solo guarda una fila en un Excel o un archivo en una carpeta, y el bot se dispara automáticamente.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📌 Opción 3: Ejecución Programada (Batch)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 bot procesa una lista masiva de 50 o 100 documentos en lote a una hora programada del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PROPUESTA DE AUTOMATIZACIÓN RPA • HITSS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Impacto de Negocio y Beneficios Esperados (ROI)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Reducción de Tiempo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De 20 minutos manuales a menos de 5 segundos por documento.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Margen de Error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Cero errores tipográficos, omisiones de campos o fallas de formato.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Trazabilidad Total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Registro y confirmación de cada archivo generado y correo enviado.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2880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Costo de Licencias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Desarrollado con tecnologías estándar de Python e integraciones directas.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📊 Comparativa Operativa: Antes vs. Después del RPA</a:t>
            </a:r>
          </a:p>
          <a:p>
            <a:pPr>
              <a:spcBef>
                <a:spcPts val="400"/>
              </a:spcBef>
              <a:defRPr b="1" sz="1200">
                <a:solidFill>
                  <a:srgbClr val="EF4444"/>
                </a:solidFill>
              </a:defRPr>
            </a:pPr>
            <a:r>
              <a:t>• Antes (Proceso Manual): </a:t>
            </a:r>
            <a:r>
              <a:rPr b="0">
                <a:solidFill>
                  <a:srgbClr val="0F172A"/>
                </a:solidFill>
              </a:rPr>
              <a:t>Dependencia de memoria humana, edición artesanal de archivos Word, riesgo de olvidar adjuntos en el correo.</a:t>
            </a:r>
          </a:p>
          <a:p>
            <a:pPr>
              <a:spcBef>
                <a:spcPts val="400"/>
              </a:spcBef>
              <a:defRPr b="1" sz="1200">
                <a:solidFill>
                  <a:srgbClr val="16A34A"/>
                </a:solidFill>
              </a:defRPr>
            </a:pPr>
            <a:r>
              <a:t>• Después (Con RPA): </a:t>
            </a:r>
            <a:r>
              <a:rPr b="0">
                <a:solidFill>
                  <a:srgbClr val="0F172A"/>
                </a:solidFill>
              </a:rPr>
              <a:t>Proceso automatizado en 1 clic o desatendido, plantilla institucional estandarizada, envío inmediato y respaldo en nube.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PROPUESTA DE AUTOMATIZACIÓN RPA • HITSS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Plan de Trabajo y Tiempos de Implementación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283464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Fase 1 • 1 - 2 Días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Levantamiento y Plantilla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Definición de campos dinámicos.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Estandarización de la plantilla .docx de HITSS.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Identificación de destinatarios y formato de correo.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103120"/>
            <a:ext cx="283464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Fase 2 • 3 - 4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Desarrollo y Conexión RPA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Programación del motor de inyección en Word.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Configuración del conector de correo (Outlook/SMTP).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Pruebas unitarias de calidad y casos borde.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2103120"/>
            <a:ext cx="283464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Fase 3 • 1 - 2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Prueba Piloto y Salida a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Demo con el equipo y validación del jefe.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Ajustes finales de estilo y feedback.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✔ Puesta en marcha y documentación de 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PROPUESTA DE AUTOMATIZACIÓN RPA • HITSS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Propuesta de Próximos Pasos (PoC / Demo Rápido)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🚀 ¿Cómo podemos iniciar hoy mismo?</a:t>
            </a:r>
          </a:p>
          <a:p>
            <a:pPr>
              <a:spcBef>
                <a:spcPts val="1400"/>
              </a:spcBef>
              <a:defRPr b="1" sz="1500">
                <a:solidFill>
                  <a:srgbClr val="F8FAFC"/>
                </a:solidFill>
              </a:defRPr>
            </a:pPr>
            <a:r>
              <a:t>Paso 1: Probar una Prueba de Concepto (PoC)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Podemos preparar un demo funcional con la plantilla Word real de HITSS en menos de 48 horas.</a:t>
            </a:r>
          </a:p>
          <a:p>
            <a:pPr>
              <a:spcBef>
                <a:spcPts val="1400"/>
              </a:spcBef>
              <a:defRPr b="1" sz="1500">
                <a:solidFill>
                  <a:srgbClr val="F8FAFC"/>
                </a:solidFill>
              </a:defRPr>
            </a:pPr>
            <a:r>
              <a:t>Paso 2: Validación con el usuario final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Revisar que los datos y el correo cumplan con los estándares requeridos por la jefatura.</a:t>
            </a:r>
          </a:p>
          <a:p>
            <a:pPr>
              <a:spcBef>
                <a:spcPts val="1400"/>
              </a:spcBef>
              <a:defRPr b="1" sz="1500">
                <a:solidFill>
                  <a:srgbClr val="F8FAFC"/>
                </a:solidFill>
              </a:defRPr>
            </a:pPr>
            <a:r>
              <a:t>Paso 3: Despliegue productivo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Integrarlo en la rutina diaria para empezar a ahorrar tiempo de inmediato.</a:t>
            </a:r>
          </a:p>
          <a:p>
            <a:pPr>
              <a:spcBef>
                <a:spcPts val="2200"/>
              </a:spcBef>
              <a:defRPr b="1" sz="1600">
                <a:solidFill>
                  <a:srgbClr val="22C55E"/>
                </a:solidFill>
              </a:defRPr>
            </a:pPr>
            <a:r>
              <a:t>💬 ¿Preguntas o comentarios? 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